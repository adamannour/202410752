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77" r:id="rId3"/>
    <p:sldId id="278" r:id="rId4"/>
    <p:sldId id="279" r:id="rId5"/>
    <p:sldId id="274" r:id="rId6"/>
    <p:sldId id="268" r:id="rId7"/>
    <p:sldId id="270" r:id="rId8"/>
    <p:sldId id="276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E7CEFE5-3128-409E-BB88-514501DE2C89}">
          <p14:sldIdLst>
            <p14:sldId id="256"/>
            <p14:sldId id="277"/>
            <p14:sldId id="278"/>
            <p14:sldId id="279"/>
            <p14:sldId id="274"/>
          </p14:sldIdLst>
        </p14:section>
        <p14:section name="postgreat" id="{2CBA77C7-E1B3-4403-BC5C-9C3433508C97}">
          <p14:sldIdLst>
            <p14:sldId id="268"/>
            <p14:sldId id="270"/>
            <p14:sldId id="276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7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2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19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0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3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8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8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4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5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72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83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18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90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86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19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7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7655EA8-8035-4577-B48D-DA171702BC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15102C4-45EA-4AD9-9A9E-F3BF34D15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1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E50E-2BA3-EEC2-8D24-1859694C2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86440"/>
            <a:ext cx="7766936" cy="1883884"/>
          </a:xfrm>
        </p:spPr>
        <p:txBody>
          <a:bodyPr/>
          <a:lstStyle/>
          <a:p>
            <a:r>
              <a:rPr lang="en-US" dirty="0"/>
              <a:t>SQL for E-Commerce &amp; Logistics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3335E-A3F6-F0B7-37A3-194E7DC24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0183" y="2291509"/>
            <a:ext cx="9061973" cy="4280051"/>
          </a:xfrm>
        </p:spPr>
        <p:txBody>
          <a:bodyPr/>
          <a:lstStyle/>
          <a:p>
            <a:r>
              <a:rPr lang="it-IT" dirty="0"/>
              <a:t>Practical Lab: Brazilian E-Commerce (Olist) Dataset</a:t>
            </a:r>
          </a:p>
          <a:p>
            <a:r>
              <a:rPr lang="en-US" b="1" dirty="0"/>
              <a:t>Tools:</a:t>
            </a:r>
            <a:r>
              <a:rPr lang="en-US" dirty="0"/>
              <a:t> XAMPP (MySQL), phpMyAdmin, Google Looker Studio</a:t>
            </a:r>
          </a:p>
          <a:p>
            <a:r>
              <a:rPr lang="en-US" sz="2400" b="1" u="sng" dirty="0"/>
              <a:t>ROLL NUMBERS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202411044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202410752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202410381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202411043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202411258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6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07D5-FAEE-7D11-15F1-473CA2F9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SQL critical for logistics optimization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F4B68-05E8-A29A-756E-48909BF58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helps companies quickly find and use information from large logistics databases</a:t>
            </a:r>
          </a:p>
          <a:p>
            <a:pPr marL="0" indent="0">
              <a:buNone/>
            </a:pPr>
            <a:r>
              <a:rPr lang="en-US" dirty="0"/>
              <a:t> It makes it easy to track shipments, deliveries, and inventory</a:t>
            </a:r>
          </a:p>
          <a:p>
            <a:pPr marL="0" indent="0">
              <a:buNone/>
            </a:pPr>
            <a:r>
              <a:rPr lang="en-US" dirty="0"/>
              <a:t>Managers can use data to make better and faster decisions</a:t>
            </a:r>
          </a:p>
          <a:p>
            <a:pPr marL="0" indent="0">
              <a:buNone/>
            </a:pPr>
            <a:r>
              <a:rPr lang="en-US" dirty="0"/>
              <a:t>SQL helps create reports and predict future performance</a:t>
            </a:r>
          </a:p>
          <a:p>
            <a:pPr marL="0" indent="0">
              <a:buNone/>
            </a:pPr>
            <a:r>
              <a:rPr lang="en-US" dirty="0"/>
              <a:t> It reduces delays, saves money, and improves overall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3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1D3A-C754-C8F9-7A24-75CF19A6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How does late delivery affect customer satisfaction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29EC4-1036-8FFB-EB9C-3E8B18D2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Reduces customer trust in the company</a:t>
            </a:r>
          </a:p>
          <a:p>
            <a:pPr marL="0" indent="0">
              <a:buNone/>
            </a:pPr>
            <a:r>
              <a:rPr lang="en-US" dirty="0"/>
              <a:t> Increases complaints and negative reviews</a:t>
            </a:r>
          </a:p>
          <a:p>
            <a:pPr marL="0" indent="0">
              <a:buNone/>
            </a:pPr>
            <a:r>
              <a:rPr lang="en-US" dirty="0"/>
              <a:t> Causes loss of repeat customers</a:t>
            </a:r>
          </a:p>
          <a:p>
            <a:pPr marL="0" indent="0">
              <a:buNone/>
            </a:pPr>
            <a:r>
              <a:rPr lang="en-US" dirty="0"/>
              <a:t> Damages brand reputation</a:t>
            </a:r>
          </a:p>
          <a:p>
            <a:pPr marL="0" indent="0">
              <a:buNone/>
            </a:pPr>
            <a:r>
              <a:rPr lang="en-US" dirty="0"/>
              <a:t> Leads to higher compensation and refund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9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64B0-AAFD-66D6-CAE4-6B526024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Which KPI would you improve first as a manager?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3EF7-D3AA-CD90-7CF0-E6F07CB3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711575"/>
          </a:xfrm>
        </p:spPr>
        <p:txBody>
          <a:bodyPr>
            <a:noAutofit/>
          </a:bodyPr>
          <a:lstStyle/>
          <a:p>
            <a:r>
              <a:rPr lang="en-US" sz="2000" b="1" dirty="0"/>
              <a:t>On-Time Delivery Rate</a:t>
            </a:r>
            <a:r>
              <a:rPr lang="en-US" sz="2000" dirty="0"/>
              <a:t> has the biggest overall impact: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Customer satisfaction</a:t>
            </a:r>
            <a:endParaRPr lang="en-US" sz="2000" dirty="0"/>
          </a:p>
          <a:p>
            <a:pPr lvl="1"/>
            <a:r>
              <a:rPr lang="en-US" sz="1800" dirty="0"/>
              <a:t>Late deliveries directly hurt customer trust and experience.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Brand reputation</a:t>
            </a:r>
            <a:endParaRPr lang="en-US" sz="2000" dirty="0"/>
          </a:p>
          <a:p>
            <a:pPr lvl="1"/>
            <a:r>
              <a:rPr lang="en-US" sz="1800" dirty="0"/>
              <a:t>Being reliable matters more than being fast but inconsistent.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It influences the other KPIs</a:t>
            </a:r>
            <a:endParaRPr lang="en-US" sz="2000" dirty="0"/>
          </a:p>
          <a:p>
            <a:pPr lvl="1"/>
            <a:r>
              <a:rPr lang="en-US" sz="1800" dirty="0"/>
              <a:t>Improving on-time delivery usually: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600" dirty="0"/>
              <a:t>Reduces </a:t>
            </a:r>
            <a:r>
              <a:rPr lang="en-US" sz="1600" b="1" dirty="0"/>
              <a:t>Late Deliveries Count</a:t>
            </a:r>
            <a:endParaRPr lang="en-US" sz="1600" dirty="0"/>
          </a:p>
          <a:p>
            <a:pPr marL="1143000" lvl="2" indent="-228600">
              <a:buFont typeface="+mj-lt"/>
              <a:buAutoNum type="arabicPeriod"/>
            </a:pPr>
            <a:r>
              <a:rPr lang="en-US" sz="1600" dirty="0"/>
              <a:t>Helps stabilize </a:t>
            </a:r>
            <a:r>
              <a:rPr lang="en-US" sz="1600" b="1" dirty="0"/>
              <a:t>Average Delivery Time</a:t>
            </a:r>
            <a:endParaRPr lang="en-US" sz="16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94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733A-C4B5-4A8A-504C-2D118BA6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business overview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4A4DEE-5D60-55A8-5C9C-01F95E6B8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1" y="2603499"/>
            <a:ext cx="6806360" cy="4035425"/>
          </a:xfrm>
        </p:spPr>
      </p:pic>
    </p:spTree>
    <p:extLst>
      <p:ext uri="{BB962C8B-B14F-4D97-AF65-F5344CB8AC3E}">
        <p14:creationId xmlns:p14="http://schemas.microsoft.com/office/powerpoint/2010/main" val="85246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3664-A494-2997-2F58-0F5C762B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analytics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EE59C0-77D7-8A0F-4FA6-7A612A3EE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738" y="2603500"/>
            <a:ext cx="8761412" cy="3416300"/>
          </a:xfrm>
        </p:spPr>
      </p:pic>
    </p:spTree>
    <p:extLst>
      <p:ext uri="{BB962C8B-B14F-4D97-AF65-F5344CB8AC3E}">
        <p14:creationId xmlns:p14="http://schemas.microsoft.com/office/powerpoint/2010/main" val="93218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08D3-4001-CE14-C7EB-FD12DC5C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Seller Product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AAEF9E-63F7-FC4D-CFB2-AA23D2CFA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5" y="2085975"/>
            <a:ext cx="9986963" cy="3933825"/>
          </a:xfrm>
        </p:spPr>
      </p:pic>
    </p:spTree>
    <p:extLst>
      <p:ext uri="{BB962C8B-B14F-4D97-AF65-F5344CB8AC3E}">
        <p14:creationId xmlns:p14="http://schemas.microsoft.com/office/powerpoint/2010/main" val="312295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BE2-8E2B-F699-DEE3-5C9F799B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&amp; Financial </a:t>
            </a:r>
            <a:r>
              <a:rPr lang="en-US" dirty="0" err="1"/>
              <a:t>insigths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9483B7-4611-54BF-1A98-D72A75492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243138"/>
            <a:ext cx="9501188" cy="3776662"/>
          </a:xfrm>
        </p:spPr>
      </p:pic>
    </p:spTree>
    <p:extLst>
      <p:ext uri="{BB962C8B-B14F-4D97-AF65-F5344CB8AC3E}">
        <p14:creationId xmlns:p14="http://schemas.microsoft.com/office/powerpoint/2010/main" val="1971480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D5ED-149E-0A55-A94D-4BBAE95C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6 - System Integration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E72E2A-8A35-350D-1D3F-8BE0CAD32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294" y="1178806"/>
            <a:ext cx="7612655" cy="5177928"/>
          </a:xfrm>
        </p:spPr>
      </p:pic>
    </p:spTree>
    <p:extLst>
      <p:ext uri="{BB962C8B-B14F-4D97-AF65-F5344CB8AC3E}">
        <p14:creationId xmlns:p14="http://schemas.microsoft.com/office/powerpoint/2010/main" val="15491851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189</TotalTime>
  <Words>215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SQL for E-Commerce &amp; Logistics Analytics</vt:lpstr>
      <vt:lpstr>Why is SQL critical for logistics optimization </vt:lpstr>
      <vt:lpstr>2: How does late delivery affect customer satisfaction </vt:lpstr>
      <vt:lpstr>Which KPI would you improve first as a manager? </vt:lpstr>
      <vt:lpstr>  business overview </vt:lpstr>
      <vt:lpstr>Customer analytics</vt:lpstr>
      <vt:lpstr>Seller Product performance</vt:lpstr>
      <vt:lpstr>Payment &amp; Financial insigths</vt:lpstr>
      <vt:lpstr>Part 6 - System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for E-Commerce &amp; Logistics Analytics</dc:title>
  <dc:creator>USER</dc:creator>
  <cp:lastModifiedBy>hp</cp:lastModifiedBy>
  <cp:revision>4</cp:revision>
  <dcterms:created xsi:type="dcterms:W3CDTF">2026-01-22T11:10:30Z</dcterms:created>
  <dcterms:modified xsi:type="dcterms:W3CDTF">2026-01-23T09:48:23Z</dcterms:modified>
</cp:coreProperties>
</file>